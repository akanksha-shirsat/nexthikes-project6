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6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AA221-C7AD-4A24-AB9F-E623078A56E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EA1F37-2F1C-4934-8998-D187C9430F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00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A1F37-2F1C-4934-8998-D187C9430F6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51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589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65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544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1746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92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7756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081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409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130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939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187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569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513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3662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335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5486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3402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5012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206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5479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5376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46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4875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4715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576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4250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1750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46172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55448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rgbClr val="FFFFFF"/>
                </a:solidFill>
              </a:rPr>
              <a:t>Rossmann Store Sales Forecasting</a:t>
            </a:r>
          </a:p>
          <a:p>
            <a:r>
              <a:rPr sz="2200" dirty="0">
                <a:solidFill>
                  <a:srgbClr val="DCE4EE"/>
                </a:solidFill>
              </a:rPr>
              <a:t>EDA • Machine Learning • LSTM • Final Prediction</a:t>
            </a:r>
          </a:p>
          <a:p>
            <a:r>
              <a:rPr sz="1600" dirty="0" err="1">
                <a:solidFill>
                  <a:srgbClr val="FFFFFF"/>
                </a:solidFill>
              </a:rPr>
              <a:t>NextHikes</a:t>
            </a:r>
            <a:r>
              <a:rPr sz="1600" dirty="0">
                <a:solidFill>
                  <a:srgbClr val="FFFFFF"/>
                </a:solidFill>
              </a:rPr>
              <a:t> Internship Project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4709160"/>
            <a:ext cx="2194560" cy="1005840"/>
          </a:xfrm>
          <a:prstGeom prst="roundRect">
            <a:avLst/>
          </a:prstGeom>
          <a:solidFill>
            <a:srgbClr val="F2F5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465A4"/>
                </a:solidFill>
              </a:rPr>
              <a:t>336,223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training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4709160"/>
            <a:ext cx="2194560" cy="1005840"/>
          </a:xfrm>
          <a:prstGeom prst="roundRect">
            <a:avLst/>
          </a:prstGeom>
          <a:solidFill>
            <a:srgbClr val="F2F5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91840" y="484632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465A4"/>
                </a:solidFill>
              </a:rPr>
              <a:t>41,088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test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4709160"/>
            <a:ext cx="2194560" cy="1005840"/>
          </a:xfrm>
          <a:prstGeom prst="roundRect">
            <a:avLst/>
          </a:prstGeom>
          <a:solidFill>
            <a:srgbClr val="F2F5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0" y="484632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465A4"/>
                </a:solidFill>
              </a:rPr>
              <a:t>1,115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stores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4709160"/>
            <a:ext cx="2194560" cy="1005840"/>
          </a:xfrm>
          <a:prstGeom prst="roundRect">
            <a:avLst/>
          </a:prstGeom>
          <a:solidFill>
            <a:srgbClr val="F2F5F9"/>
          </a:solidFill>
          <a:ln>
            <a:solidFill>
              <a:srgbClr val="32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484632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2825A"/>
                </a:solidFill>
              </a:rPr>
              <a:t>RF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final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F47"/>
                </a:solidFill>
              </a:rP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Forecast daily Rossmann store sales for the future test period.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Understand how promotions, holidays, customers, seasonality, store characteristics and competition affect sales.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Develop two forecasting approaches: Random Forest regression and LSTM neural network.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Compare both models on a common chronological validation period and select the stronger model.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Generate and validate the final submission for 41,088 test records.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F47"/>
                </a:solidFill>
              </a:rPr>
              <a:t>Dataset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237744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21031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465A4"/>
                </a:solidFill>
              </a:rPr>
              <a:t>336,223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Train rows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325880"/>
            <a:ext cx="237744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0" y="1463039"/>
            <a:ext cx="21031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465A4"/>
                </a:solidFill>
              </a:rPr>
              <a:t>41,088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Test rows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25880"/>
            <a:ext cx="237744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1463039"/>
            <a:ext cx="21031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465A4"/>
                </a:solidFill>
              </a:rPr>
              <a:t>1,115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Stores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325880"/>
            <a:ext cx="237744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0" y="1463039"/>
            <a:ext cx="21031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465A4"/>
                </a:solidFill>
              </a:rPr>
              <a:t>320 days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Train 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2B32"/>
                </a:solidFill>
              </a:defRPr>
            </a:pPr>
            <a:r>
              <a:t>train.csv: historical Store-Date observations with Sales as the target.</a:t>
            </a:r>
          </a:p>
          <a:p>
            <a:pPr>
              <a:spcAft>
                <a:spcPts val="1200"/>
              </a:spcAft>
              <a:defRPr sz="1700">
                <a:solidFill>
                  <a:srgbClr val="262B32"/>
                </a:solidFill>
              </a:defRPr>
            </a:pPr>
            <a:r>
              <a:t>test.csv: future Store-Date observations requiring predictions.</a:t>
            </a:r>
          </a:p>
          <a:p>
            <a:pPr>
              <a:spcAft>
                <a:spcPts val="1200"/>
              </a:spcAft>
              <a:defRPr sz="1700">
                <a:solidFill>
                  <a:srgbClr val="262B32"/>
                </a:solidFill>
              </a:defRPr>
            </a:pPr>
            <a:r>
              <a:t>store.csv: store type, assortment, competition and Promo2 information.</a:t>
            </a:r>
          </a:p>
          <a:p>
            <a:pPr>
              <a:spcAft>
                <a:spcPts val="1200"/>
              </a:spcAft>
              <a:defRPr sz="1700">
                <a:solidFill>
                  <a:srgbClr val="262B32"/>
                </a:solidFill>
              </a:defRPr>
            </a:pPr>
            <a:r>
              <a:t>sample_submission.csv: required Id + Sales submission format.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5568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F47"/>
                </a:solidFill>
              </a:rPr>
              <a:t>Data Preparation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Train and test were merged separately with store.csv using the Store key.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Date converted to datetime; Year, Month, Day, WeekOfYear and IsWeekend were created.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Missing Promo2 fields were treated as not applicable; CompetitionDistance was median-imputed.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CompetitionOpenMonths and Promo2Active were engineered.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StateHoliday values were standardized so equivalent 'no holiday' values were consistent.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Customers was excluded from the ML model because it is unavailable in test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F47"/>
                </a:solidFill>
              </a:rPr>
              <a:t>EDA — Key Sales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Customers and Sales have a very strong positive relationship (correlation ≈ 0.89).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Open/closed status is critical: closed stores have zero sales.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Promotional days generally show higher sales and customer counts.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Sales vary strongly by weekday, month and store.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StoreType and Assortment contribute to differences in store performance.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CompetitionDistance shows only a weak linear relationship with sales.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F47"/>
                </a:solidFill>
              </a:rPr>
              <a:t>EDA — Temporal &amp; Store-Level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Daily sales show strong fluctuations with repeated weekly patterns.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November and December show stronger seasonal sales activity.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Average sales increased across the observed years.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Sunday is notably lower because many stores are closed.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Store-level averages vary widely; some stores consistently outperform others.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StoreType B generally shows the strongest sales pattern in the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F47"/>
                </a:solidFill>
              </a:rPr>
              <a:t>Correlation &amp; Business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1107" y="134416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62B32"/>
                </a:solidFill>
              </a:rPr>
              <a:t>Customers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88920" y="1371600"/>
            <a:ext cx="4297680" cy="29260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88920" y="1371600"/>
            <a:ext cx="3824935" cy="29260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0" y="1335024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62B32"/>
                </a:solidFill>
              </a:rPr>
              <a:t>0.89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62B32"/>
                </a:solidFill>
              </a:rPr>
              <a:t>Open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2057400"/>
            <a:ext cx="4297680" cy="29260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88920" y="2057400"/>
            <a:ext cx="2922422" cy="29260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0" y="2020824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62B32"/>
                </a:solidFill>
              </a:rPr>
              <a:t>0.68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1576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62B32"/>
                </a:solidFill>
              </a:rPr>
              <a:t>Promo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2743200"/>
            <a:ext cx="4297680" cy="29260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88920" y="2743200"/>
            <a:ext cx="1933956" cy="29260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2706624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62B32"/>
                </a:solidFill>
              </a:rPr>
              <a:t>0.45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0156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62B32"/>
                </a:solidFill>
              </a:rPr>
              <a:t>SchoolHoliday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3429000"/>
            <a:ext cx="4297680" cy="29260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88920" y="3429000"/>
            <a:ext cx="386791" cy="29260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3392424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62B32"/>
                </a:solidFill>
              </a:rPr>
              <a:t>0.09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8736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62B32"/>
                </a:solidFill>
              </a:rPr>
              <a:t>CompetitionDistance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4114800"/>
            <a:ext cx="4297680" cy="29260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88920" y="4114800"/>
            <a:ext cx="85953" cy="292608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0" y="4078224"/>
            <a:ext cx="1188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62B32"/>
                </a:solidFill>
              </a:rPr>
              <a:t>-0.02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5065" y="14173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2B32"/>
                </a:solidFill>
              </a:defRPr>
            </a:pPr>
            <a:r>
              <a:rPr dirty="0"/>
              <a:t>Customer traffic is the strongest observed numerical indicator of sales.</a:t>
            </a:r>
          </a:p>
          <a:p>
            <a:pPr>
              <a:spcAft>
                <a:spcPts val="1200"/>
              </a:spcAft>
              <a:defRPr sz="1700">
                <a:solidFill>
                  <a:srgbClr val="262B32"/>
                </a:solidFill>
              </a:defRPr>
            </a:pPr>
            <a:r>
              <a:rPr dirty="0"/>
              <a:t>Operational status and promotions are also important.</a:t>
            </a:r>
          </a:p>
          <a:p>
            <a:pPr>
              <a:spcAft>
                <a:spcPts val="1200"/>
              </a:spcAft>
              <a:defRPr sz="1700">
                <a:solidFill>
                  <a:srgbClr val="262B32"/>
                </a:solidFill>
              </a:defRPr>
            </a:pPr>
            <a:r>
              <a:rPr dirty="0"/>
              <a:t>Some variables have weak linear correlation but may still add predictive value through interactions.</a:t>
            </a:r>
          </a:p>
          <a:p>
            <a:pPr>
              <a:spcAft>
                <a:spcPts val="1200"/>
              </a:spcAft>
              <a:defRPr sz="1700">
                <a:solidFill>
                  <a:srgbClr val="262B32"/>
                </a:solidFill>
              </a:defRPr>
            </a:pPr>
            <a:r>
              <a:rPr dirty="0"/>
              <a:t>EDA findings guided feature engineering and model selection.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5568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F47"/>
                </a:solidFill>
              </a:rPr>
              <a:t>Machine Learning Approach — Random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Problem type: supervised regression at Store-Date level.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Chronological 80/20 split used to simulate future forecasting.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Numerical features were standardized with StandardScaler.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Categorical features were encoded with OneHotEncoder(handle_unknown='ignore').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Baseline: DummyRegressor; alternatives included Gradient Boosting.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Random Forest used 100 trees initially; hyperparameter tuning was tested with RandomizedSearchCV.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F47"/>
                </a:solidFill>
              </a:rPr>
              <a:t>Random Forest Results &amp; Interpretation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2743200" cy="1325880"/>
          </a:xfrm>
          <a:prstGeom prst="roundRect">
            <a:avLst/>
          </a:prstGeom>
          <a:solidFill>
            <a:srgbClr val="F2F5F9"/>
          </a:solidFill>
          <a:ln>
            <a:solidFill>
              <a:srgbClr val="32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24688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2825A"/>
                </a:solidFill>
              </a:rPr>
              <a:t>Lowest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MAE among initial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1417320"/>
            <a:ext cx="2743200" cy="1325880"/>
          </a:xfrm>
          <a:prstGeom prst="roundRect">
            <a:avLst/>
          </a:prstGeom>
          <a:solidFill>
            <a:srgbClr val="F2F5F9"/>
          </a:solidFill>
          <a:ln>
            <a:solidFill>
              <a:srgbClr val="32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31920" y="1554480"/>
            <a:ext cx="24688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2825A"/>
                </a:solidFill>
              </a:rPr>
              <a:t>Lowest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RMSE among initial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417320"/>
            <a:ext cx="2743200" cy="1325880"/>
          </a:xfrm>
          <a:prstGeom prst="roundRect">
            <a:avLst/>
          </a:prstGeom>
          <a:solidFill>
            <a:srgbClr val="F2F5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03720" y="1554480"/>
            <a:ext cx="24688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465A4"/>
                </a:solidFill>
              </a:rPr>
              <a:t>No gain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from 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10424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2B32"/>
                </a:solidFill>
              </a:defRPr>
            </a:pPr>
            <a:r>
              <a:t>Random Forest outperformed the baseline and Gradient Boosting on the chronological validation data.</a:t>
            </a:r>
          </a:p>
          <a:p>
            <a:pPr>
              <a:spcAft>
                <a:spcPts val="1200"/>
              </a:spcAft>
              <a:defRPr sz="1800">
                <a:solidFill>
                  <a:srgbClr val="262B32"/>
                </a:solidFill>
              </a:defRPr>
            </a:pPr>
            <a:r>
              <a:t>The tuned Random Forest did not improve validation performance, so the original Random Forest was retained.</a:t>
            </a:r>
          </a:p>
          <a:p>
            <a:pPr>
              <a:spcAft>
                <a:spcPts val="1200"/>
              </a:spcAft>
              <a:defRPr sz="1800">
                <a:solidFill>
                  <a:srgbClr val="262B32"/>
                </a:solidFill>
              </a:defRPr>
            </a:pPr>
            <a:r>
              <a:t>Feature importance highlighted Open, competition-related information, Store identity, Promo and time features.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F47"/>
                </a:solidFill>
              </a:rPr>
              <a:t>Time-Series Preparation for LSTM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228600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39"/>
            <a:ext cx="2011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465A4"/>
                </a:solidFill>
              </a:rPr>
              <a:t>942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daily observations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325880"/>
            <a:ext cx="228600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79" y="1463039"/>
            <a:ext cx="2011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465A4"/>
                </a:solidFill>
              </a:rPr>
              <a:t>7 days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look-back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1325880"/>
            <a:ext cx="228600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0" y="1463039"/>
            <a:ext cx="2011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465A4"/>
                </a:solidFill>
              </a:rPr>
              <a:t>935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sequences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325880"/>
            <a:ext cx="228600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1463039"/>
            <a:ext cx="2011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465A4"/>
                </a:solidFill>
              </a:rPr>
              <a:t>748 / 187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train /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26080"/>
            <a:ext cx="10332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2B32"/>
                </a:solidFill>
              </a:defRPr>
            </a:pPr>
            <a:r>
              <a:t>Store-level sales were aggregated into one total daily sales series.</a:t>
            </a:r>
          </a:p>
          <a:p>
            <a:pPr>
              <a:spcAft>
                <a:spcPts val="1200"/>
              </a:spcAft>
              <a:defRPr sz="1700">
                <a:solidFill>
                  <a:srgbClr val="262B32"/>
                </a:solidFill>
              </a:defRPr>
            </a:pPr>
            <a:r>
              <a:t>Period: 2013-01-01 to 2015-07-31, with no missing or duplicate dates.</a:t>
            </a:r>
          </a:p>
          <a:p>
            <a:pPr>
              <a:spcAft>
                <a:spcPts val="1200"/>
              </a:spcAft>
              <a:defRPr sz="1700">
                <a:solidFill>
                  <a:srgbClr val="262B32"/>
                </a:solidFill>
              </a:defRPr>
            </a:pPr>
            <a:r>
              <a:t>ADF test p-value = 6.44 × 10⁻⁵ → stationarity indicated; differencing was not required.</a:t>
            </a:r>
          </a:p>
          <a:p>
            <a:pPr>
              <a:spcAft>
                <a:spcPts val="1200"/>
              </a:spcAft>
              <a:defRPr sz="1700">
                <a:solidFill>
                  <a:srgbClr val="262B32"/>
                </a:solidFill>
              </a:defRPr>
            </a:pPr>
            <a:r>
              <a:t>ACF/PACF revealed strong weekly dependence, supporting a 7-day look-back.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5568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F47"/>
                </a:solidFill>
              </a:rPr>
              <a:t>LSTM Model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25880"/>
            <a:ext cx="237744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463039"/>
            <a:ext cx="21031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465A4"/>
                </a:solidFill>
              </a:rPr>
              <a:t>64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LSTM units — Layer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325880"/>
            <a:ext cx="237744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66160" y="1463039"/>
            <a:ext cx="21031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465A4"/>
                </a:solidFill>
              </a:rPr>
              <a:t>32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LSTM units — Layer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25880"/>
            <a:ext cx="237744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2200" y="1463039"/>
            <a:ext cx="21031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465A4"/>
                </a:solidFill>
              </a:rPr>
              <a:t>20%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Dropout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1325880"/>
            <a:ext cx="237744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0" y="1463039"/>
            <a:ext cx="21031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465A4"/>
                </a:solidFill>
              </a:rPr>
              <a:t>29,345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trainable 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2B32"/>
                </a:solidFill>
              </a:defRPr>
            </a:pPr>
            <a:r>
              <a:t>Input sequence: previous 7 daily sales values.</a:t>
            </a:r>
          </a:p>
          <a:p>
            <a:pPr>
              <a:spcAft>
                <a:spcPts val="1200"/>
              </a:spcAft>
              <a:defRPr sz="1700">
                <a:solidFill>
                  <a:srgbClr val="262B32"/>
                </a:solidFill>
              </a:defRPr>
            </a:pPr>
            <a:r>
              <a:t>MinMaxScaler with range (-1, 1), fitted only on training data to avoid leakage.</a:t>
            </a:r>
          </a:p>
          <a:p>
            <a:pPr>
              <a:spcAft>
                <a:spcPts val="1200"/>
              </a:spcAft>
              <a:defRPr sz="1700">
                <a:solidFill>
                  <a:srgbClr val="262B32"/>
                </a:solidFill>
              </a:defRPr>
            </a:pPr>
            <a:r>
              <a:t>Architecture: LSTM(64, return_sequences=True) → Dropout → LSTM(32) → Dropout → Dense(1).</a:t>
            </a:r>
          </a:p>
          <a:p>
            <a:pPr>
              <a:spcAft>
                <a:spcPts val="1200"/>
              </a:spcAft>
              <a:defRPr sz="1700">
                <a:solidFill>
                  <a:srgbClr val="262B32"/>
                </a:solidFill>
              </a:defRPr>
            </a:pPr>
            <a:r>
              <a:t>Optimizer: Adam; loss: MSE; maximum 50 epochs; batch size 32.</a:t>
            </a:r>
          </a:p>
          <a:p>
            <a:pPr>
              <a:spcAft>
                <a:spcPts val="1200"/>
              </a:spcAft>
              <a:defRPr sz="1700">
                <a:solidFill>
                  <a:srgbClr val="262B32"/>
                </a:solidFill>
              </a:defRPr>
            </a:pPr>
            <a:r>
              <a:t>EarlyStopping with patience 5 and restore_best_weights=True.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5568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F47"/>
                </a:solidFill>
              </a:rPr>
              <a:t>LSTM Training &amp; 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2560320" cy="1188720"/>
          </a:xfrm>
          <a:prstGeom prst="roundRect">
            <a:avLst/>
          </a:prstGeom>
          <a:solidFill>
            <a:srgbClr val="F2F5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465A4"/>
                </a:solidFill>
              </a:rPr>
              <a:t>17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best epoch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1371600"/>
            <a:ext cx="2560320" cy="1188720"/>
          </a:xfrm>
          <a:prstGeom prst="roundRect">
            <a:avLst/>
          </a:prstGeom>
          <a:solidFill>
            <a:srgbClr val="F2F5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49040" y="15087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465A4"/>
                </a:solidFill>
              </a:rPr>
              <a:t>22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epochs trained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2560320" cy="1188720"/>
          </a:xfrm>
          <a:prstGeom prst="roundRect">
            <a:avLst/>
          </a:prstGeom>
          <a:solidFill>
            <a:srgbClr val="F2F5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5087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465A4"/>
                </a:solidFill>
              </a:rPr>
              <a:t>0.0841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best validation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2B32"/>
                </a:solidFill>
              </a:defRPr>
            </a:pPr>
            <a:r>
              <a:t>Training loss decreased from 0.1680 to 0.0780.</a:t>
            </a:r>
          </a:p>
          <a:p>
            <a:pPr>
              <a:spcAft>
                <a:spcPts val="1200"/>
              </a:spcAft>
              <a:defRPr sz="1800">
                <a:solidFill>
                  <a:srgbClr val="262B32"/>
                </a:solidFill>
              </a:defRPr>
            </a:pPr>
            <a:r>
              <a:t>Validation loss reached its best value of 0.0841 at Epoch 17.</a:t>
            </a:r>
          </a:p>
          <a:p>
            <a:pPr>
              <a:spcAft>
                <a:spcPts val="1200"/>
              </a:spcAft>
              <a:defRPr sz="1800">
                <a:solidFill>
                  <a:srgbClr val="262B32"/>
                </a:solidFill>
              </a:defRPr>
            </a:pPr>
            <a:r>
              <a:t>EarlyStopping stopped training at Epoch 22 because validation performance stopped improving consistently.</a:t>
            </a:r>
          </a:p>
          <a:p>
            <a:pPr>
              <a:spcAft>
                <a:spcPts val="1200"/>
              </a:spcAft>
              <a:defRPr sz="1800">
                <a:solidFill>
                  <a:srgbClr val="262B32"/>
                </a:solidFill>
              </a:defRPr>
            </a:pPr>
            <a:r>
              <a:t>The model learned temporal patterns but still showed substantial forecast error at high sales levels.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51459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F2F47"/>
                </a:solidFill>
              </a:rPr>
              <a:t>Common Validation — Random Forest vs LSTM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274320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32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24688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 dirty="0">
                <a:solidFill>
                  <a:srgbClr val="32825A"/>
                </a:solidFill>
              </a:rPr>
              <a:t>₹3.67 lakh</a:t>
            </a:r>
          </a:p>
          <a:p>
            <a:pPr algn="ctr"/>
            <a:r>
              <a:rPr sz="1200" dirty="0">
                <a:solidFill>
                  <a:srgbClr val="262B32"/>
                </a:solidFill>
              </a:rPr>
              <a:t>RF MAE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325880"/>
            <a:ext cx="274320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32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94760" y="1463039"/>
            <a:ext cx="24688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 dirty="0">
                <a:solidFill>
                  <a:srgbClr val="32825A"/>
                </a:solidFill>
              </a:rPr>
              <a:t>₹6.18 lakh</a:t>
            </a:r>
          </a:p>
          <a:p>
            <a:pPr algn="ctr"/>
            <a:r>
              <a:rPr sz="1200" dirty="0">
                <a:solidFill>
                  <a:srgbClr val="262B32"/>
                </a:solidFill>
              </a:rPr>
              <a:t>RF RMSE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25880"/>
            <a:ext cx="274320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AF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463039"/>
            <a:ext cx="24688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 dirty="0">
                <a:solidFill>
                  <a:srgbClr val="AF4646"/>
                </a:solidFill>
              </a:rPr>
              <a:t>₹14.32 lakh</a:t>
            </a:r>
          </a:p>
          <a:p>
            <a:pPr algn="ctr"/>
            <a:r>
              <a:rPr sz="1200" dirty="0">
                <a:solidFill>
                  <a:srgbClr val="262B32"/>
                </a:solidFill>
              </a:rPr>
              <a:t>LSTM MAE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325880"/>
            <a:ext cx="2011680" cy="1234440"/>
          </a:xfrm>
          <a:prstGeom prst="roundRect">
            <a:avLst/>
          </a:prstGeom>
          <a:solidFill>
            <a:srgbClr val="F2F5F9"/>
          </a:solidFill>
          <a:ln>
            <a:solidFill>
              <a:srgbClr val="AF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46920" y="1463039"/>
            <a:ext cx="1737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 dirty="0">
                <a:solidFill>
                  <a:srgbClr val="AF4646"/>
                </a:solidFill>
              </a:rPr>
              <a:t>₹22.78 lakh</a:t>
            </a:r>
          </a:p>
          <a:p>
            <a:pPr algn="ctr"/>
            <a:r>
              <a:rPr sz="1200" dirty="0">
                <a:solidFill>
                  <a:srgbClr val="262B32"/>
                </a:solidFill>
              </a:rPr>
              <a:t>LSTM 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2B32"/>
                </a:solidFill>
              </a:defRPr>
            </a:pPr>
            <a:r>
              <a:t>Common validation period: 30 Jan 2015 to 31 Jul 2015 (183 dates).</a:t>
            </a:r>
          </a:p>
          <a:p>
            <a:pPr>
              <a:spcAft>
                <a:spcPts val="1200"/>
              </a:spcAft>
              <a:defRPr sz="1700">
                <a:solidFill>
                  <a:srgbClr val="262B32"/>
                </a:solidFill>
              </a:defRPr>
            </a:pPr>
            <a:r>
              <a:t>Both models were evaluated at the same daily total-sales level.</a:t>
            </a:r>
          </a:p>
          <a:p>
            <a:pPr>
              <a:spcAft>
                <a:spcPts val="1200"/>
              </a:spcAft>
              <a:defRPr sz="1700">
                <a:solidFill>
                  <a:srgbClr val="262B32"/>
                </a:solidFill>
              </a:defRPr>
            </a:pPr>
            <a:r>
              <a:t>Random Forest clearly outperformed LSTM on both MAE and RMSE.</a:t>
            </a:r>
          </a:p>
          <a:p>
            <a:pPr>
              <a:spcAft>
                <a:spcPts val="1200"/>
              </a:spcAft>
              <a:defRPr sz="1700">
                <a:solidFill>
                  <a:srgbClr val="262B32"/>
                </a:solidFill>
              </a:defRPr>
            </a:pPr>
            <a:r>
              <a:t>LSTM predictions included unrealistic negative values and underestimated high sales.</a:t>
            </a:r>
          </a:p>
          <a:p>
            <a:pPr>
              <a:spcAft>
                <a:spcPts val="1200"/>
              </a:spcAft>
              <a:defRPr sz="1700">
                <a:solidFill>
                  <a:srgbClr val="262B32"/>
                </a:solidFill>
              </a:defRPr>
            </a:pPr>
            <a:r>
              <a:t>Lower MAE and RMSE are better → Random Forest selected.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5568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F47"/>
                </a:solidFill>
              </a:rPr>
              <a:t>Final Model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3931920" cy="1645920"/>
          </a:xfrm>
          <a:prstGeom prst="roundRect">
            <a:avLst/>
          </a:prstGeom>
          <a:solidFill>
            <a:srgbClr val="F2F5F9"/>
          </a:solidFill>
          <a:ln>
            <a:solidFill>
              <a:srgbClr val="32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39" y="16002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2825A"/>
                </a:solidFill>
              </a:rPr>
              <a:t>RANDOM FOREST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Selected final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3931920" cy="1645920"/>
          </a:xfrm>
          <a:prstGeom prst="roundRect">
            <a:avLst/>
          </a:prstGeom>
          <a:solidFill>
            <a:srgbClr val="F2F5F9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37960" y="16002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3465A4"/>
                </a:solidFill>
              </a:rPr>
              <a:t>41,088</a:t>
            </a:r>
          </a:p>
          <a:p>
            <a:pPr algn="ctr"/>
            <a:r>
              <a:rPr sz="1200">
                <a:solidFill>
                  <a:srgbClr val="262B32"/>
                </a:solidFill>
              </a:rPr>
              <a:t>future test predictions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9875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2B32"/>
                </a:solidFill>
              </a:defRPr>
            </a:pPr>
            <a:r>
              <a:t>Selected using the lowest RMSE on the common validation period.</a:t>
            </a:r>
          </a:p>
          <a:p>
            <a:pPr>
              <a:spcAft>
                <a:spcPts val="1200"/>
              </a:spcAft>
              <a:defRPr sz="1800">
                <a:solidFill>
                  <a:srgbClr val="262B32"/>
                </a:solidFill>
              </a:defRPr>
            </a:pPr>
            <a:r>
              <a:t>Provides direct Store-Date predictions, matching the competition test structure.</a:t>
            </a:r>
          </a:p>
          <a:p>
            <a:pPr>
              <a:spcAft>
                <a:spcPts val="1200"/>
              </a:spcAft>
              <a:defRPr sz="1800">
                <a:solidFill>
                  <a:srgbClr val="262B32"/>
                </a:solidFill>
              </a:defRPr>
            </a:pPr>
            <a:r>
              <a:t>Final predictions were clipped at zero to prevent negative sales values.</a:t>
            </a:r>
          </a:p>
          <a:p>
            <a:pPr>
              <a:spcAft>
                <a:spcPts val="1200"/>
              </a:spcAft>
              <a:defRPr sz="1800">
                <a:solidFill>
                  <a:srgbClr val="262B32"/>
                </a:solidFill>
              </a:defRPr>
            </a:pPr>
            <a:r>
              <a:t>The final model generated forecasts for every row in test.csv.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F47"/>
                </a:solidFill>
              </a:rPr>
              <a:t>Final Test Prediction &amp; Submission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Test set: 41,088 Store-Date records.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23 model input features after merge and feature engineering.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0 missing values in model input.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Prediction range after clipping: minimum ₹0; maximum ≈ ₹31,349.51.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Average predicted sales ≈ ₹5,760.19.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Submission preserved all 41,088 Id values and their original order.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Validation checks: 0 missing Sales, 0 infinite values, 0 negative predictions.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F47"/>
                </a:solidFill>
              </a:rPr>
              <a:t>Business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Plan inventory and staffing around promotional periods and seasonal peaks.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Use customer traffic as a strong operational indicator of expected sales.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Account for weekday and seasonal patterns when planning store operations.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Consider store type, assortment and competition context when comparing store performance.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Use historical sales patterns for forecasting, while keeping validation time-aware.</a:t>
            </a:r>
          </a:p>
          <a:p>
            <a:pPr>
              <a:spcAft>
                <a:spcPts val="1200"/>
              </a:spcAft>
              <a:defRPr sz="1900">
                <a:solidFill>
                  <a:srgbClr val="262B32"/>
                </a:solidFill>
              </a:defRPr>
            </a:pPr>
            <a:r>
              <a:t>Model performance should be monitored and retrained as future sales data becomes available.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2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6476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70793" y="1554480"/>
            <a:ext cx="8419934" cy="33239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dirty="0">
                <a:solidFill>
                  <a:srgbClr val="FFFFFF"/>
                </a:solidFill>
              </a:rPr>
              <a:t>Conclusion</a:t>
            </a:r>
            <a:endParaRPr lang="en-US" sz="3600" b="1" dirty="0">
              <a:solidFill>
                <a:srgbClr val="FFFFFF"/>
              </a:solidFill>
            </a:endParaRPr>
          </a:p>
          <a:p>
            <a:pPr algn="ctr"/>
            <a:endParaRPr sz="3600" b="1" dirty="0">
              <a:solidFill>
                <a:srgbClr val="FFFFFF"/>
              </a:solidFill>
            </a:endParaRPr>
          </a:p>
          <a:p>
            <a:pPr algn="ctr"/>
            <a:r>
              <a:rPr sz="2000" dirty="0">
                <a:solidFill>
                  <a:srgbClr val="FFFFFF"/>
                </a:solidFill>
              </a:rPr>
              <a:t>EDA identified the main sales drivers and temporal patterns.</a:t>
            </a:r>
          </a:p>
          <a:p>
            <a:pPr algn="ctr"/>
            <a:r>
              <a:rPr sz="2000" dirty="0">
                <a:solidFill>
                  <a:srgbClr val="FFFFFF"/>
                </a:solidFill>
              </a:rPr>
              <a:t>Random Forest outperformed LSTM on the common validation period.</a:t>
            </a:r>
          </a:p>
          <a:p>
            <a:pPr algn="ctr"/>
            <a:r>
              <a:rPr sz="2000" dirty="0">
                <a:solidFill>
                  <a:srgbClr val="FFFFFF"/>
                </a:solidFill>
              </a:rPr>
              <a:t>The final Random Forest model produced and validated 41,088 predictions.</a:t>
            </a:r>
          </a:p>
          <a:p>
            <a:pPr algn="ctr"/>
            <a:endParaRPr lang="en-US" sz="2600" b="1" dirty="0">
              <a:solidFill>
                <a:srgbClr val="DCE4EE"/>
              </a:solidFill>
            </a:endParaRPr>
          </a:p>
          <a:p>
            <a:pPr algn="ctr"/>
            <a:endParaRPr lang="en-US" sz="2600" b="1" dirty="0">
              <a:solidFill>
                <a:srgbClr val="DCE4EE"/>
              </a:solidFill>
            </a:endParaRPr>
          </a:p>
          <a:p>
            <a:pPr algn="ctr"/>
            <a:r>
              <a:rPr sz="2600" b="1" dirty="0">
                <a:solidFill>
                  <a:srgbClr val="DCE4EE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31</TotalTime>
  <Words>1160</Words>
  <Application>Microsoft Office PowerPoint</Application>
  <PresentationFormat>Widescreen</PresentationFormat>
  <Paragraphs>183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Haettenschweiler</vt:lpstr>
      <vt:lpstr>Trade Gothic Next Light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Akansha Shirsat</cp:lastModifiedBy>
  <cp:revision>3</cp:revision>
  <dcterms:created xsi:type="dcterms:W3CDTF">2013-01-27T09:14:16Z</dcterms:created>
  <dcterms:modified xsi:type="dcterms:W3CDTF">2026-09-13T16:40:06Z</dcterms:modified>
  <cp:category/>
</cp:coreProperties>
</file>